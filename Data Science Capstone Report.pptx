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LEO</c:v>
                  </c:pt>
                  <c:pt idx="1">
                    <c:v>GTO</c:v>
                  </c:pt>
                  <c:pt idx="2">
                    <c:v>ISS</c:v>
                  </c:pt>
                  <c:pt idx="3">
                    <c:v>SSO</c:v>
                  </c:pt>
                  <c:pt idx="4">
                    <c:v>VLEO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43</c:v>
                </c:pt>
                <c:pt idx="2">
                  <c:v>82</c:v>
                </c:pt>
                <c:pt idx="3">
                  <c:v>100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D1E4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6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CCAFS LC-40</c:v>
                  </c:pt>
                  <c:pt idx="1">
                    <c:v>KSC LC-39A</c:v>
                  </c:pt>
                  <c:pt idx="2">
                    <c:v>VAFB SLC-4E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77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1E4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6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77.8</c:v>
                </c:pt>
                <c:pt idx="3">
                  <c:v>83.3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1E4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6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44</c:v>
                </c:pt>
                <c:pt idx="4">
                  <c:v>55</c:v>
                </c:pt>
                <c:pt idx="5">
                  <c:v>67</c:v>
                </c:pt>
                <c:pt idx="6">
                  <c:v>80</c:v>
                </c:pt>
                <c:pt idx="7">
                  <c:v>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36576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73152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100584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5720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371600"/>
            <a:ext cx="54864" cy="548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914400"/>
            <a:ext cx="1280160" cy="1280160"/>
          </a:xfrm>
          <a:prstGeom prst="ellipse">
            <a:avLst/>
          </a:prstGeom>
          <a:solidFill>
            <a:srgbClr val="132244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914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PP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IBM Data Science Capstone  |  March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IBM Data Science Professional Certificate | Capstone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1417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Falcon 9 first stage landing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cost estimation for launches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647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web scraping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192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SQL Analysis, Interactive Viz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(4 models)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71800"/>
            <a:ext cx="64008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Outcome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3192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 &amp; KNN tied at 83.3%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factors: Payload, Site, Orbit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389120" cy="33832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aims to reduce space travel costs through rocket reusability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first stage can land and be reflown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successful landing saves millions in launch costs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depends on mission parameters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749040" cy="1463040"/>
          </a:xfrm>
          <a:prstGeom prst="rect">
            <a:avLst/>
          </a:prstGeom>
          <a:solidFill>
            <a:srgbClr val="0284C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the Falcon 9 first stage will land successfully using historical launch data and machine learning.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063240"/>
            <a:ext cx="3749040" cy="18288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127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Business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349300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determine launch cost savings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mission planning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competitive pricing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DATA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2377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api.spacexdata.com/v4/launches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launch records programmatically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JSON responses into DataFrames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payload, orbit, outcome, booster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64008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Scraping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64792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Falcon 9 launch history 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BeautifulSoup + Pandas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90+ historical launches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API data for completeness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41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Key Features Collected: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4041648"/>
            <a:ext cx="1143000" cy="292608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Launch Site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49040" y="4041648"/>
            <a:ext cx="1143000" cy="292608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Payload Mass (kg)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0" y="4041648"/>
            <a:ext cx="1143000" cy="292608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Orbit Type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4041648"/>
            <a:ext cx="1143000" cy="292608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Booster Version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89520" y="4041648"/>
            <a:ext cx="1143000" cy="292608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Landing Outcome (0/1)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WRANGLING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269748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&amp; removed rows with null payload mass; imputed landing outcome where inferable.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9748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27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Categorical Encoding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launch site and orbit to one-hot encoded numeric features.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9748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27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3042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'class' column: 1 = successful landing, 0 = failed landing.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269748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year/month, combined booster versions, and standardized column names.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200400"/>
            <a:ext cx="269748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2735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37560" y="36758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950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to preserve class balance in both sets.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EDA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508760" cy="105156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 manipulation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&amp; aggregation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8256" y="1417320"/>
            <a:ext cx="1508760" cy="105156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18562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Static charts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&amp; line plots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0752" y="1417320"/>
            <a:ext cx="1508760" cy="105156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Seaborn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18562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Statistical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visualizations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417320"/>
            <a:ext cx="1508760" cy="105156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Plotly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13248" y="18562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charts &amp; dash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95744" y="1417320"/>
            <a:ext cx="1508760" cy="105156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Folium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18562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Geographic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map visuals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Relationships Analysed: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256032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06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Payload vs Success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heavier payload reduce landing success probability?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63240" y="301752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63240" y="3017520"/>
            <a:ext cx="256032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0906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Orbit vs Success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orbit types see higher first-stage recovery rates?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301752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3017520"/>
            <a:ext cx="256032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0906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Launch Site vs Success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5216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sites more favorable for booster landings?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EDA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Success Rate by Orbit Type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645920"/>
          <a:ext cx="4023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Success Rate by Launch Site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64592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886200"/>
            <a:ext cx="8412480" cy="1024128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4224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Heavier payloads (&gt;6000 kg) show lower success rates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06040" y="4224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SSO &amp; VLEO orbits achieve highest recovery rates (~90%+)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63440" y="4224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KSC LC-39A has the highest site success rate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720840" y="4224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Success rate improved significantly after 2016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02920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 successful launches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"Landing_Outcome" = 'Success';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Launches per site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"Launch_Site",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"Launch_Site"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Avg payload by orbit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"Orbit",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AVG("PayloadMass") AS avg_kg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"Orbit";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3200400" cy="73152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55448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9110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success rate across all launches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350008"/>
            <a:ext cx="3200400" cy="73152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3957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2752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— most launches &amp; highest success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191256"/>
            <a:ext cx="3200400" cy="73152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23697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5,972 kg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35935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mass across all missions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4032504"/>
            <a:ext cx="3200400" cy="73152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0782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4434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orbit (commercial satellites)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ANALYTICS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19202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 Charts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per launch site — bar chart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 success rate scatter plot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trend visualization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site and payload range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64792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success breakdown by 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mass vs landing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filter: All Sites / specific 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RangeSlider: 0–10,000 kg payload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Dashboard Built With: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584448"/>
            <a:ext cx="1371600" cy="4572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584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Plotly Dash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584448"/>
            <a:ext cx="1371600" cy="4572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584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Plotly Express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584448"/>
            <a:ext cx="1371600" cy="4572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584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Pandas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3584448"/>
            <a:ext cx="1371600" cy="4572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584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9651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enables dynamic, user-driven exploration — filtering by launch site and payload range to discover patterns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GEOSPATIAL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Geographic Analysis (Folium)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029200" cy="33832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🗺️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Interactive Folium Map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4754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986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5292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KSC LC-39A — Kennedy Space Center, FL | Success: 77%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4754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7413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284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CCAFS LC-40 — Cape Canaveral, FL | Success: 60%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4754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962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0390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VAFB SLC-4E — Vandenberg AFB, CA | Success: 75%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61104"/>
            <a:ext cx="4754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2511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793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CCAFS SLC-40 — Cape Canaveral, FL | Success: 67%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463040"/>
            <a:ext cx="3291840" cy="33832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5361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Geospatial Insights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show success (green) vs failure (red)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clusters used for dense areas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equator improves GTO efficiency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 sites: Florida coast &amp; California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coast affects launch trajectory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Dropdown Filter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'All Sites' or a specific launch site to filter the dashboard dynamically.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0876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Pie Chart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85623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total successful launches by site (All Sites) or success vs failure for a specific site.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50876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Range Slider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6208" y="185623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payload range from 0 to 10,000 kg to analyze mass impact on landing success.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274320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5468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Scatter Plot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350215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(x) vs landing outcome (y) colored by Booster Version Category.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0632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6324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5468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Callback Architecture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55848" y="350215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callbacks: pie (site input) and scatter (site + slider inputs).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63240"/>
            <a:ext cx="274320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5468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</a:rPr>
              <a:t>Key Finding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36208" y="3502152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highest success rate. Payload &lt; 5000 kg favors successful landings.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4206240" cy="15544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📊 Logistic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classifier. Simple, interpretable. Uses sigmoid for probability estimation.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206240" cy="15544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⚡ Support Vector Machine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hyperplane. Effective in high-dimensional feature spaces.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206240" cy="15544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🌳 Decision 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splitting on best features. Prone to overfitting without pruning.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3246120"/>
            <a:ext cx="4206240" cy="155448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🔍 K-Nearest Neighbors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033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based on majority vote of K nearest training points. Non-parametric approach.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Split: 80% Training / 20% Testing   |   Stratified to preserve class balance   |   GridSearchCV for hyperparameter tuning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Accuracy Comparison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645920"/>
          <a:ext cx="49377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64592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64592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66420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83.3%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166420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SVM / KNN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(tied best)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51460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51460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53288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77.8%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12280" y="25328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(lowest)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338328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3383280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40156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12280" y="3401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SVM · DT · KNN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4343400"/>
            <a:ext cx="3291840" cy="749808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Evaluation Metrics Used: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Accuracy · Confusion Matrix · F1 Score · Jaccard Score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576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</a:rPr>
              <a:t>Confusion Matrix (Best Models)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4617720"/>
            <a:ext cx="21945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617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TN=14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88920" y="4617720"/>
            <a:ext cx="21945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88920" y="4617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FP=2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001768"/>
            <a:ext cx="21945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5001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FN=1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88920" y="5001768"/>
            <a:ext cx="21945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88920" y="5001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TP=13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4251960" cy="1261872"/>
          </a:xfrm>
          <a:prstGeom prst="rect">
            <a:avLst/>
          </a:prstGeom>
          <a:solidFill>
            <a:srgbClr val="13224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🎯  Best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&amp; KNN all achieved 83.3% accuracy — tied for best performance.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251960" cy="1261872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00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⚙️  Key Factors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mass, orbit type, and launch site are strongest predictors of landing success.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53512"/>
            <a:ext cx="4251960" cy="1261872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44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📈  Trend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1071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rates have improved significantly since 2016 as SpaceX gained experience.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53512"/>
            <a:ext cx="4251960" cy="1261872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044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💡  DT Underperformed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41071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scored lowest (77.8%), likely due to overfitting on the small test set.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4398264"/>
            <a:ext cx="3931920" cy="1261872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44897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🔬  Future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8554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weather data, more recent launches &amp; ensemble methods could boost accuracy further.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837"/>
          </a:solidFill>
          <a:ln w="12700">
            <a:solidFill>
              <a:srgbClr val="0B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Resources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REPO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188720"/>
          </a:xfrm>
          <a:prstGeom prst="rect">
            <a:avLst/>
          </a:prstGeom>
          <a:solidFill>
            <a:srgbClr val="0B183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🔗  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github.com/AnuragPP/spacex-falcon9-prediction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Repository Contents: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1. Data Collection (API)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3127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jupyter-labs-spacex-data-collection-api.ipynb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3127248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2. Web Scraping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0" y="3127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jupyter-labs-webscraping.ipynb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3. Data Wrangling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7452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labs-jupyter-spacex-Data_wrangling.ipynb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566160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4. SQL EDA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jupyter-labs-eda-sql-coursera_sqllite.ipynb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05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5. EDA Visualization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005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edadataviz.ipynb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4005072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005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6. Launch Site (Folium)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005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lab_jupyter_launch_site_location.ipynb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43984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439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7. ML Prediction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74520" y="44439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SpaceX_Machine_Learning_Prediction_Part_5.ipynb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443984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4439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8. Dash App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44439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spacex-dash-app.py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37"/>
                </a:solidFill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286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Launch Success Rate Over Time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73736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737360"/>
            <a:ext cx="32004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783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Continuous Improvement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06440" y="2039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grew from 0% (2013) to 92% (2020) — reflecting rapid iteration.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514600"/>
            <a:ext cx="32004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560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Site Specialization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06440" y="2816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consistently outperforms other sites — optimal landing zone setup.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3291840"/>
            <a:ext cx="32004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3337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Booster Reuse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06440" y="3593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boosters showed moderate success; B5 boosters (2018+) achieved near-perfect rates.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4069080"/>
            <a:ext cx="32004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4114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Feature Importance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06440" y="43708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confirmed Flight Number, Payload &amp; Orbit as top 3 predictive features.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182880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457200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IBM Data Science Professional Certificate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</a:rPr>
              <a:t>Capstone Project  •  Anurag PP  • 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526280"/>
            <a:ext cx="9144000" cy="576072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526280"/>
            <a:ext cx="9144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Questions? Let's discuss the methodology, results, and potential improvements.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Anurag PP</dc:creator>
  <cp:lastModifiedBy>Anurag PP</cp:lastModifiedBy>
  <cp:revision>1</cp:revision>
  <dcterms:created xsi:type="dcterms:W3CDTF">2026-03-29T09:36:50Z</dcterms:created>
  <dcterms:modified xsi:type="dcterms:W3CDTF">2026-03-29T09:36:50Z</dcterms:modified>
</cp:coreProperties>
</file>